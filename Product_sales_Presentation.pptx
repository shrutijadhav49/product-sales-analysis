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60" r:id="rId5"/>
    <p:sldId id="268" r:id="rId6"/>
    <p:sldId id="266" r:id="rId7"/>
  </p:sldIdLst>
  <p:sldSz cx="14630400" cy="8229600"/>
  <p:notesSz cx="8229600" cy="14630400"/>
  <p:embeddedFontLst>
    <p:embeddedFont>
      <p:font typeface="Ebrima" panose="02000000000000000000" pitchFamily="2" charset="0"/>
      <p:regular r:id="rId9"/>
      <p:bold r:id="rId10"/>
    </p:embeddedFont>
    <p:embeddedFont>
      <p:font typeface="Fraunces Extra Bold" panose="020B0604020202020204" charset="0"/>
      <p:regular r:id="rId11"/>
    </p:embeddedFont>
    <p:embeddedFont>
      <p:font typeface="Nobile" panose="020B0604020202020204" charset="0"/>
      <p:regular r:id="rId12"/>
    </p:embeddedFont>
    <p:embeddedFont>
      <p:font typeface="Calibri" panose="020F0502020204030204" pitchFamily="34" charset="0"/>
      <p:regular r:id="rId13"/>
      <p:bold r:id="rId14"/>
      <p:italic r:id="rId15"/>
      <p:bold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9" d="100"/>
          <a:sy n="59" d="100"/>
        </p:scale>
        <p:origin x="46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1403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490787" y="3102650"/>
            <a:ext cx="9648825" cy="708779"/>
          </a:xfrm>
          <a:prstGeom prst="rect">
            <a:avLst/>
          </a:prstGeom>
          <a:noFill/>
          <a:ln/>
        </p:spPr>
        <p:txBody>
          <a:bodyPr wrap="none" lIns="0" tIns="0" rIns="0" bIns="0" rtlCol="0" anchor="t"/>
          <a:lstStyle/>
          <a:p>
            <a:r>
              <a:rPr lang="en-GB" sz="4800" b="1" dirty="0">
                <a:latin typeface="YAFdtQi73Xs_0"/>
              </a:rPr>
              <a:t>Products </a:t>
            </a:r>
            <a:r>
              <a:rPr lang="en-GB" sz="4800" b="1" dirty="0" smtClean="0">
                <a:latin typeface="YAFdtQi73Xs_0"/>
              </a:rPr>
              <a:t>Sales Data </a:t>
            </a:r>
            <a:r>
              <a:rPr lang="en-GB" sz="4800" b="1" dirty="0">
                <a:latin typeface="YAFdtQi73Xs_0"/>
              </a:rPr>
              <a:t>Analysis</a:t>
            </a:r>
            <a:endParaRPr lang="en-GB" sz="4800" dirty="0">
              <a:latin typeface="YAFdtQi73Xs_0"/>
            </a:endParaRPr>
          </a:p>
        </p:txBody>
      </p:sp>
      <p:sp>
        <p:nvSpPr>
          <p:cNvPr id="4" name="Text 2"/>
          <p:cNvSpPr/>
          <p:nvPr/>
        </p:nvSpPr>
        <p:spPr>
          <a:xfrm>
            <a:off x="9300091" y="4559856"/>
            <a:ext cx="4536519" cy="566976"/>
          </a:xfrm>
          <a:prstGeom prst="rect">
            <a:avLst/>
          </a:prstGeom>
          <a:noFill/>
          <a:ln/>
        </p:spPr>
        <p:txBody>
          <a:bodyPr wrap="none" lIns="0" tIns="0" rIns="0" bIns="0" rtlCol="0" anchor="t"/>
          <a:lstStyle/>
          <a:p>
            <a:pPr marL="0" indent="0" algn="r">
              <a:lnSpc>
                <a:spcPts val="4450"/>
              </a:lnSpc>
              <a:buNone/>
            </a:pPr>
            <a:r>
              <a:rPr lang="en-US" sz="3550" b="1" dirty="0">
                <a:solidFill>
                  <a:srgbClr val="5E98F1"/>
                </a:solidFill>
                <a:latin typeface="Ebrima" panose="02000000000000000000" pitchFamily="2" charset="0"/>
                <a:ea typeface="Ebrima" panose="02000000000000000000" pitchFamily="2" charset="0"/>
                <a:cs typeface="Ebrima" panose="02000000000000000000" pitchFamily="2" charset="0"/>
              </a:rPr>
              <a:t>By </a:t>
            </a:r>
            <a:r>
              <a:rPr lang="en-US" sz="3550" b="1" dirty="0" err="1" smtClean="0">
                <a:solidFill>
                  <a:srgbClr val="5E98F1"/>
                </a:solidFill>
                <a:latin typeface="Ebrima" panose="02000000000000000000" pitchFamily="2" charset="0"/>
                <a:ea typeface="Ebrima" panose="02000000000000000000" pitchFamily="2" charset="0"/>
                <a:cs typeface="Ebrima" panose="02000000000000000000" pitchFamily="2" charset="0"/>
              </a:rPr>
              <a:t>Shruti</a:t>
            </a:r>
            <a:r>
              <a:rPr lang="en-US" sz="3550" b="1" dirty="0" smtClean="0">
                <a:solidFill>
                  <a:srgbClr val="5E98F1"/>
                </a:solidFill>
                <a:latin typeface="Ebrima" panose="02000000000000000000" pitchFamily="2" charset="0"/>
                <a:ea typeface="Ebrima" panose="02000000000000000000" pitchFamily="2" charset="0"/>
                <a:cs typeface="Ebrima" panose="02000000000000000000" pitchFamily="2" charset="0"/>
              </a:rPr>
              <a:t> </a:t>
            </a:r>
            <a:r>
              <a:rPr lang="en-US" sz="3550" b="1" dirty="0" err="1" smtClean="0">
                <a:solidFill>
                  <a:srgbClr val="5E98F1"/>
                </a:solidFill>
                <a:latin typeface="Ebrima" panose="02000000000000000000" pitchFamily="2" charset="0"/>
                <a:ea typeface="Ebrima" panose="02000000000000000000" pitchFamily="2" charset="0"/>
                <a:cs typeface="Ebrima" panose="02000000000000000000" pitchFamily="2" charset="0"/>
              </a:rPr>
              <a:t>Jadhav</a:t>
            </a:r>
            <a:endParaRPr lang="en-US" sz="3550" dirty="0">
              <a:latin typeface="Ebrima" panose="02000000000000000000" pitchFamily="2" charset="0"/>
              <a:ea typeface="Ebrima" panose="02000000000000000000" pitchFamily="2" charset="0"/>
              <a:cs typeface="Ebrima" panose="02000000000000000000" pitchFamily="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80455"/>
            <a:ext cx="3232190" cy="403979"/>
          </a:xfrm>
          <a:prstGeom prst="rect">
            <a:avLst/>
          </a:prstGeom>
          <a:noFill/>
          <a:ln/>
        </p:spPr>
        <p:txBody>
          <a:bodyPr wrap="none" lIns="0" tIns="0" rIns="0" bIns="0" rtlCol="0" anchor="t"/>
          <a:lstStyle/>
          <a:p>
            <a:pPr>
              <a:lnSpc>
                <a:spcPts val="3150"/>
              </a:lnSpc>
            </a:pPr>
            <a:r>
              <a:rPr lang="en-GB" sz="2800" dirty="0" smtClean="0"/>
              <a:t> </a:t>
            </a:r>
            <a:r>
              <a:rPr lang="en-US" sz="2500" b="1" dirty="0" smtClean="0">
                <a:solidFill>
                  <a:srgbClr val="5E98F1"/>
                </a:solidFill>
                <a:latin typeface="Ebrima" panose="02000000000000000000" pitchFamily="2" charset="0"/>
                <a:ea typeface="Ebrima" panose="02000000000000000000" pitchFamily="2" charset="0"/>
                <a:cs typeface="Ebrima" panose="02000000000000000000" pitchFamily="2" charset="0"/>
              </a:rPr>
              <a:t>Problem </a:t>
            </a:r>
            <a:r>
              <a:rPr lang="en-US" sz="2500" b="1" dirty="0">
                <a:solidFill>
                  <a:srgbClr val="5E98F1"/>
                </a:solidFill>
                <a:latin typeface="Ebrima" panose="02000000000000000000" pitchFamily="2" charset="0"/>
                <a:ea typeface="Ebrima" panose="02000000000000000000" pitchFamily="2" charset="0"/>
                <a:cs typeface="Ebrima" panose="02000000000000000000" pitchFamily="2" charset="0"/>
              </a:rPr>
              <a:t>Statement</a:t>
            </a:r>
            <a:endParaRPr lang="en-US" sz="2500" dirty="0">
              <a:latin typeface="Ebrima" panose="02000000000000000000" pitchFamily="2" charset="0"/>
              <a:ea typeface="Ebrima" panose="02000000000000000000" pitchFamily="2" charset="0"/>
              <a:cs typeface="Ebrima" panose="02000000000000000000" pitchFamily="2" charset="0"/>
            </a:endParaRPr>
          </a:p>
        </p:txBody>
      </p:sp>
      <p:sp>
        <p:nvSpPr>
          <p:cNvPr id="3" name="Text 1"/>
          <p:cNvSpPr/>
          <p:nvPr/>
        </p:nvSpPr>
        <p:spPr>
          <a:xfrm>
            <a:off x="793790" y="1166301"/>
            <a:ext cx="13042821" cy="1615916"/>
          </a:xfrm>
          <a:prstGeom prst="rect">
            <a:avLst/>
          </a:prstGeom>
          <a:noFill/>
          <a:ln/>
        </p:spPr>
        <p:txBody>
          <a:bodyPr wrap="square" lIns="0" tIns="0" rIns="0" bIns="0" rtlCol="0" anchor="t"/>
          <a:lstStyle/>
          <a:p>
            <a:pPr>
              <a:lnSpc>
                <a:spcPts val="3150"/>
              </a:lnSpc>
            </a:pPr>
            <a:r>
              <a:rPr lang="en-US" sz="2400" dirty="0"/>
              <a:t>In today’s competitive market, organizations generate a large amount of sales data from different products, customers, and regions. However, raw sales data alone does not provide meaningful insights for decision-making. There is a need to analyze this data effectively to understand sales performance, profit trends, customer behavior, and regional demand.</a:t>
            </a:r>
            <a:endParaRPr lang="en-US" sz="2400" dirty="0">
              <a:latin typeface="Ebrima" panose="02000000000000000000" pitchFamily="2" charset="0"/>
              <a:ea typeface="Ebrima" panose="02000000000000000000" pitchFamily="2" charset="0"/>
              <a:cs typeface="Ebrima" panose="02000000000000000000" pitchFamily="2" charset="0"/>
            </a:endParaRPr>
          </a:p>
        </p:txBody>
      </p:sp>
      <p:sp>
        <p:nvSpPr>
          <p:cNvPr id="4" name="Text 2"/>
          <p:cNvSpPr/>
          <p:nvPr/>
        </p:nvSpPr>
        <p:spPr>
          <a:xfrm>
            <a:off x="793790" y="3203739"/>
            <a:ext cx="3232190" cy="403979"/>
          </a:xfrm>
          <a:prstGeom prst="rect">
            <a:avLst/>
          </a:prstGeom>
          <a:noFill/>
          <a:ln/>
        </p:spPr>
        <p:txBody>
          <a:bodyPr wrap="none" lIns="0" tIns="0" rIns="0" bIns="0" rtlCol="0" anchor="t"/>
          <a:lstStyle/>
          <a:p>
            <a:pPr>
              <a:lnSpc>
                <a:spcPts val="3150"/>
              </a:lnSpc>
            </a:pPr>
            <a:r>
              <a:rPr lang="en-US" sz="2500" b="1" dirty="0" smtClean="0">
                <a:solidFill>
                  <a:srgbClr val="5E98F1"/>
                </a:solidFill>
                <a:latin typeface="Ebrima" panose="02000000000000000000" pitchFamily="2" charset="0"/>
                <a:ea typeface="Ebrima" panose="02000000000000000000" pitchFamily="2" charset="0"/>
                <a:cs typeface="Ebrima" panose="02000000000000000000" pitchFamily="2" charset="0"/>
              </a:rPr>
              <a:t>Objectives</a:t>
            </a:r>
            <a:endParaRPr lang="en-US" sz="2500" dirty="0">
              <a:latin typeface="Ebrima" panose="02000000000000000000" pitchFamily="2" charset="0"/>
              <a:ea typeface="Ebrima" panose="02000000000000000000" pitchFamily="2" charset="0"/>
              <a:cs typeface="Ebrima" panose="02000000000000000000" pitchFamily="2" charset="0"/>
            </a:endParaRPr>
          </a:p>
        </p:txBody>
      </p:sp>
      <p:sp>
        <p:nvSpPr>
          <p:cNvPr id="5" name="Text 3"/>
          <p:cNvSpPr/>
          <p:nvPr/>
        </p:nvSpPr>
        <p:spPr>
          <a:xfrm>
            <a:off x="793789" y="3971558"/>
            <a:ext cx="12911452" cy="3895270"/>
          </a:xfrm>
          <a:prstGeom prst="rect">
            <a:avLst/>
          </a:prstGeom>
          <a:noFill/>
          <a:ln/>
        </p:spPr>
        <p:txBody>
          <a:bodyPr wrap="square" lIns="0" tIns="0" rIns="0" bIns="0" rtlCol="0" anchor="t"/>
          <a:lstStyle/>
          <a:p>
            <a:pPr marL="342900" lvl="1">
              <a:lnSpc>
                <a:spcPts val="2700"/>
              </a:lnSpc>
              <a:buSzPct val="100000"/>
            </a:pPr>
            <a:r>
              <a:rPr lang="en-US" sz="2800" dirty="0" smtClean="0"/>
              <a:t>1</a:t>
            </a:r>
            <a:r>
              <a:rPr lang="en-US" sz="1600" b="1" dirty="0" smtClean="0"/>
              <a:t>. </a:t>
            </a:r>
            <a:r>
              <a:rPr lang="en-US" sz="2800" dirty="0" smtClean="0"/>
              <a:t>To </a:t>
            </a:r>
            <a:r>
              <a:rPr lang="en-US" sz="2800" dirty="0"/>
              <a:t>analyze total sales and profit across different products and categories</a:t>
            </a:r>
          </a:p>
        </p:txBody>
      </p:sp>
      <p:sp>
        <p:nvSpPr>
          <p:cNvPr id="6" name="Text 4"/>
          <p:cNvSpPr/>
          <p:nvPr/>
        </p:nvSpPr>
        <p:spPr>
          <a:xfrm>
            <a:off x="1159551" y="4539973"/>
            <a:ext cx="13042821" cy="689610"/>
          </a:xfrm>
          <a:prstGeom prst="rect">
            <a:avLst/>
          </a:prstGeom>
          <a:noFill/>
          <a:ln/>
        </p:spPr>
        <p:txBody>
          <a:bodyPr wrap="square" lIns="0" tIns="0" rIns="0" bIns="0" rtlCol="0" anchor="t"/>
          <a:lstStyle/>
          <a:p>
            <a:r>
              <a:rPr lang="en-US" sz="2800" dirty="0" smtClean="0"/>
              <a:t>2. </a:t>
            </a:r>
            <a:r>
              <a:rPr lang="en-US" sz="2800" dirty="0" smtClean="0"/>
              <a:t>To identify </a:t>
            </a:r>
            <a:r>
              <a:rPr lang="en-US" sz="2800" dirty="0"/>
              <a:t>top-performing and low-performing </a:t>
            </a:r>
            <a:r>
              <a:rPr lang="en-US" sz="2800" dirty="0" smtClean="0"/>
              <a:t>products	</a:t>
            </a:r>
            <a:endParaRPr lang="en-US" sz="2800" dirty="0"/>
          </a:p>
        </p:txBody>
      </p:sp>
      <p:sp>
        <p:nvSpPr>
          <p:cNvPr id="7" name="Text 5"/>
          <p:cNvSpPr/>
          <p:nvPr/>
        </p:nvSpPr>
        <p:spPr>
          <a:xfrm>
            <a:off x="793789" y="5229583"/>
            <a:ext cx="13042821" cy="689610"/>
          </a:xfrm>
          <a:prstGeom prst="rect">
            <a:avLst/>
          </a:prstGeom>
          <a:noFill/>
          <a:ln/>
        </p:spPr>
        <p:txBody>
          <a:bodyPr wrap="square" lIns="0" tIns="0" rIns="0" bIns="0" rtlCol="0" anchor="t"/>
          <a:lstStyle/>
          <a:p>
            <a:pPr marL="342900" lvl="1">
              <a:lnSpc>
                <a:spcPts val="2700"/>
              </a:lnSpc>
              <a:buSzPct val="100000"/>
            </a:pPr>
            <a:r>
              <a:rPr lang="en-US" sz="2800" dirty="0" smtClean="0"/>
              <a:t>3. To </a:t>
            </a:r>
            <a:r>
              <a:rPr lang="en-US" sz="2800" dirty="0"/>
              <a:t>understand sales distribution by city and region</a:t>
            </a:r>
            <a:r>
              <a:rPr lang="en-US" sz="2800" dirty="0" smtClean="0">
                <a:solidFill>
                  <a:srgbClr val="405449"/>
                </a:solidFill>
                <a:latin typeface="Nobile" pitchFamily="34" charset="0"/>
                <a:ea typeface="Nobile" pitchFamily="34" charset="-122"/>
                <a:cs typeface="Nobile" pitchFamily="34" charset="-120"/>
              </a:rPr>
              <a:t>.</a:t>
            </a:r>
            <a:endParaRPr lang="en-US" sz="2800" dirty="0"/>
          </a:p>
        </p:txBody>
      </p:sp>
      <p:sp>
        <p:nvSpPr>
          <p:cNvPr id="8" name="Text 6"/>
          <p:cNvSpPr/>
          <p:nvPr/>
        </p:nvSpPr>
        <p:spPr>
          <a:xfrm>
            <a:off x="793790" y="5994559"/>
            <a:ext cx="13042821" cy="689610"/>
          </a:xfrm>
          <a:prstGeom prst="rect">
            <a:avLst/>
          </a:prstGeom>
          <a:noFill/>
          <a:ln/>
        </p:spPr>
        <p:txBody>
          <a:bodyPr wrap="square" lIns="0" tIns="0" rIns="0" bIns="0" rtlCol="0" anchor="t"/>
          <a:lstStyle/>
          <a:p>
            <a:pPr marL="342900" lvl="1">
              <a:lnSpc>
                <a:spcPts val="2700"/>
              </a:lnSpc>
              <a:buSzPct val="100000"/>
            </a:pPr>
            <a:r>
              <a:rPr lang="en-US" sz="2800" dirty="0" smtClean="0"/>
              <a:t>4. To </a:t>
            </a:r>
            <a:r>
              <a:rPr lang="en-US" sz="2800" dirty="0"/>
              <a:t>study monthly and yearly sales trends</a:t>
            </a:r>
          </a:p>
        </p:txBody>
      </p:sp>
      <p:sp>
        <p:nvSpPr>
          <p:cNvPr id="9" name="Text 7"/>
          <p:cNvSpPr/>
          <p:nvPr/>
        </p:nvSpPr>
        <p:spPr>
          <a:xfrm>
            <a:off x="793790" y="6759535"/>
            <a:ext cx="13042821" cy="689610"/>
          </a:xfrm>
          <a:prstGeom prst="rect">
            <a:avLst/>
          </a:prstGeom>
          <a:noFill/>
          <a:ln/>
        </p:spPr>
        <p:txBody>
          <a:bodyPr wrap="square" lIns="0" tIns="0" rIns="0" bIns="0" rtlCol="0" anchor="t"/>
          <a:lstStyle/>
          <a:p>
            <a:pPr marL="342900" lvl="1">
              <a:lnSpc>
                <a:spcPts val="2700"/>
              </a:lnSpc>
              <a:buSzPct val="100000"/>
            </a:pPr>
            <a:r>
              <a:rPr lang="en-US" sz="2800" dirty="0" smtClean="0"/>
              <a:t>5. </a:t>
            </a:r>
            <a:r>
              <a:rPr lang="en-US" sz="2800" dirty="0"/>
              <a:t>T</a:t>
            </a:r>
            <a:r>
              <a:rPr lang="en-US" sz="2800" dirty="0" smtClean="0"/>
              <a:t>o </a:t>
            </a:r>
            <a:r>
              <a:rPr lang="en-US" sz="2800" dirty="0"/>
              <a:t>evaluate customer purchasing </a:t>
            </a:r>
            <a:r>
              <a:rPr lang="en-US" sz="2800" dirty="0" smtClean="0"/>
              <a:t>behavior</a:t>
            </a:r>
          </a:p>
          <a:p>
            <a:pPr marL="342900" lvl="1">
              <a:lnSpc>
                <a:spcPts val="2700"/>
              </a:lnSpc>
              <a:buSzPct val="100000"/>
            </a:pPr>
            <a:endParaRPr lang="en-US" sz="1600" b="1" dirty="0"/>
          </a:p>
          <a:p>
            <a:pPr marL="342900" lvl="1">
              <a:lnSpc>
                <a:spcPts val="2700"/>
              </a:lnSpc>
              <a:buSzPct val="100000"/>
            </a:pPr>
            <a:r>
              <a:rPr lang="en-US" sz="2800" dirty="0" smtClean="0"/>
              <a:t>6. To </a:t>
            </a:r>
            <a:r>
              <a:rPr lang="en-US" sz="2800" dirty="0"/>
              <a:t>create interactive dashboards for better data visualization and insights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75799"/>
            <a:ext cx="3175516" cy="396835"/>
          </a:xfrm>
          <a:prstGeom prst="rect">
            <a:avLst/>
          </a:prstGeom>
          <a:noFill/>
          <a:ln/>
        </p:spPr>
        <p:txBody>
          <a:bodyPr wrap="none" lIns="0" tIns="0" rIns="0" bIns="0" rtlCol="0" anchor="t"/>
          <a:lstStyle/>
          <a:p>
            <a:pPr>
              <a:lnSpc>
                <a:spcPts val="3100"/>
              </a:lnSpc>
            </a:pPr>
            <a:r>
              <a:rPr lang="en-US" sz="2500" b="1" dirty="0" smtClean="0">
                <a:solidFill>
                  <a:srgbClr val="00B0F0"/>
                </a:solidFill>
                <a:latin typeface="Ebrima" panose="02000000000000000000" pitchFamily="2" charset="0"/>
                <a:ea typeface="Ebrima" panose="02000000000000000000" pitchFamily="2" charset="0"/>
                <a:cs typeface="Ebrima" panose="02000000000000000000" pitchFamily="2" charset="0"/>
              </a:rPr>
              <a:t>Data</a:t>
            </a:r>
            <a:r>
              <a:rPr lang="en-US" sz="2500" b="1" dirty="0">
                <a:solidFill>
                  <a:srgbClr val="3B4540"/>
                </a:solidFill>
                <a:latin typeface="Ebrima" panose="02000000000000000000" pitchFamily="2" charset="0"/>
                <a:ea typeface="Ebrima" panose="02000000000000000000" pitchFamily="2" charset="0"/>
                <a:cs typeface="Ebrima" panose="02000000000000000000" pitchFamily="2" charset="0"/>
              </a:rPr>
              <a:t> </a:t>
            </a:r>
            <a:r>
              <a:rPr lang="en-US" sz="2500" b="1" dirty="0">
                <a:solidFill>
                  <a:srgbClr val="5E98F1"/>
                </a:solidFill>
                <a:latin typeface="Ebrima" panose="02000000000000000000" pitchFamily="2" charset="0"/>
                <a:ea typeface="Ebrima" panose="02000000000000000000" pitchFamily="2" charset="0"/>
                <a:cs typeface="Ebrima" panose="02000000000000000000" pitchFamily="2" charset="0"/>
              </a:rPr>
              <a:t>Overview</a:t>
            </a:r>
            <a:r>
              <a:rPr lang="en-US" sz="2500" b="1" dirty="0">
                <a:solidFill>
                  <a:srgbClr val="3B4540"/>
                </a:solidFill>
                <a:latin typeface="Fraunces Extra Bold" pitchFamily="34" charset="0"/>
                <a:ea typeface="Fraunces Extra Bold" pitchFamily="34" charset="-122"/>
                <a:cs typeface="Fraunces Extra Bold" pitchFamily="34" charset="-120"/>
              </a:rPr>
              <a:t> </a:t>
            </a:r>
            <a:endParaRPr lang="en-US" sz="2500" dirty="0"/>
          </a:p>
        </p:txBody>
      </p:sp>
      <p:sp>
        <p:nvSpPr>
          <p:cNvPr id="3" name="Text 1"/>
          <p:cNvSpPr/>
          <p:nvPr/>
        </p:nvSpPr>
        <p:spPr>
          <a:xfrm>
            <a:off x="793790" y="1136094"/>
            <a:ext cx="13042821" cy="1190625"/>
          </a:xfrm>
          <a:prstGeom prst="rect">
            <a:avLst/>
          </a:prstGeom>
          <a:noFill/>
          <a:ln/>
        </p:spPr>
        <p:txBody>
          <a:bodyPr wrap="square" lIns="0" tIns="0" rIns="0" bIns="0" rtlCol="0" anchor="t"/>
          <a:lstStyle/>
          <a:p>
            <a:pPr>
              <a:lnSpc>
                <a:spcPts val="2300"/>
              </a:lnSpc>
            </a:pPr>
            <a:r>
              <a:rPr lang="en-US" b="1" dirty="0"/>
              <a:t>The Product Sales dataset contains detailed information related to product transactions, pricing, sales type, and sales targets. Each record represents a sale of a specific product and includes attributes such as </a:t>
            </a:r>
            <a:r>
              <a:rPr lang="en-US" b="1" dirty="0" err="1"/>
              <a:t>ProductID</a:t>
            </a:r>
            <a:r>
              <a:rPr lang="en-US" b="1" dirty="0"/>
              <a:t>, Product name, Category, Unit of Measurement (UDM), Buying Price, Selling Price, Quantity sold, Sales Type, and Discount applied. It also includes time-based fields such as Day, Month, and Year, which allow trend analysis over different periods.</a:t>
            </a:r>
            <a:endParaRPr lang="en-US" b="1" dirty="0">
              <a:latin typeface="Ebrima" panose="02000000000000000000" pitchFamily="2" charset="0"/>
              <a:ea typeface="Ebrima" panose="02000000000000000000" pitchFamily="2" charset="0"/>
              <a:cs typeface="Ebrima" panose="02000000000000000000" pitchFamily="2" charset="0"/>
            </a:endParaRPr>
          </a:p>
        </p:txBody>
      </p:sp>
      <p:sp>
        <p:nvSpPr>
          <p:cNvPr id="4" name="Text 2"/>
          <p:cNvSpPr/>
          <p:nvPr/>
        </p:nvSpPr>
        <p:spPr>
          <a:xfrm>
            <a:off x="793790" y="2390180"/>
            <a:ext cx="3253978" cy="297656"/>
          </a:xfrm>
          <a:prstGeom prst="rect">
            <a:avLst/>
          </a:prstGeom>
          <a:noFill/>
          <a:ln/>
        </p:spPr>
        <p:txBody>
          <a:bodyPr wrap="none" lIns="0" tIns="0" rIns="0" bIns="0" rtlCol="0" anchor="t"/>
          <a:lstStyle/>
          <a:p>
            <a:pPr>
              <a:lnSpc>
                <a:spcPts val="2300"/>
              </a:lnSpc>
            </a:pPr>
            <a:r>
              <a:rPr lang="en-GB" sz="2000" dirty="0" smtClean="0"/>
              <a:t> </a:t>
            </a:r>
            <a:r>
              <a:rPr lang="en-US" sz="1850" b="1" dirty="0" smtClean="0">
                <a:solidFill>
                  <a:srgbClr val="5E98F1"/>
                </a:solidFill>
                <a:latin typeface="Ebrima" panose="02000000000000000000" pitchFamily="2" charset="0"/>
                <a:ea typeface="Ebrima" panose="02000000000000000000" pitchFamily="2" charset="0"/>
                <a:cs typeface="Ebrima" panose="02000000000000000000" pitchFamily="2" charset="0"/>
              </a:rPr>
              <a:t>Key </a:t>
            </a:r>
            <a:r>
              <a:rPr lang="en-US" sz="1850" b="1" dirty="0">
                <a:solidFill>
                  <a:srgbClr val="5E98F1"/>
                </a:solidFill>
                <a:latin typeface="Ebrima" panose="02000000000000000000" pitchFamily="2" charset="0"/>
                <a:ea typeface="Ebrima" panose="02000000000000000000" pitchFamily="2" charset="0"/>
                <a:cs typeface="Ebrima" panose="02000000000000000000" pitchFamily="2" charset="0"/>
              </a:rPr>
              <a:t>Features of the Dataset</a:t>
            </a:r>
            <a:endParaRPr lang="en-US" sz="1850" dirty="0">
              <a:latin typeface="Ebrima" panose="02000000000000000000" pitchFamily="2" charset="0"/>
              <a:ea typeface="Ebrima" panose="02000000000000000000" pitchFamily="2" charset="0"/>
              <a:cs typeface="Ebrima" panose="02000000000000000000" pitchFamily="2" charset="0"/>
            </a:endParaRPr>
          </a:p>
        </p:txBody>
      </p:sp>
      <p:sp>
        <p:nvSpPr>
          <p:cNvPr id="5" name="Text 3"/>
          <p:cNvSpPr/>
          <p:nvPr/>
        </p:nvSpPr>
        <p:spPr>
          <a:xfrm>
            <a:off x="793790" y="2751296"/>
            <a:ext cx="2381607" cy="297656"/>
          </a:xfrm>
          <a:prstGeom prst="rect">
            <a:avLst/>
          </a:prstGeom>
          <a:noFill/>
          <a:ln/>
        </p:spPr>
        <p:txBody>
          <a:bodyPr wrap="none" lIns="0" tIns="0" rIns="0" bIns="0" rtlCol="0" anchor="t"/>
          <a:lstStyle/>
          <a:p>
            <a:pPr>
              <a:lnSpc>
                <a:spcPts val="2300"/>
              </a:lnSpc>
            </a:pPr>
            <a:r>
              <a:rPr lang="en-GB" sz="2000" dirty="0" smtClean="0"/>
              <a:t> </a:t>
            </a:r>
            <a:endParaRPr lang="en-US" sz="1850" dirty="0">
              <a:latin typeface="Ebrima" panose="02000000000000000000" pitchFamily="2" charset="0"/>
              <a:ea typeface="Ebrima" panose="02000000000000000000" pitchFamily="2" charset="0"/>
              <a:cs typeface="Ebrima" panose="02000000000000000000" pitchFamily="2" charset="0"/>
            </a:endParaRPr>
          </a:p>
        </p:txBody>
      </p:sp>
      <p:sp>
        <p:nvSpPr>
          <p:cNvPr id="8" name="Text 6"/>
          <p:cNvSpPr/>
          <p:nvPr/>
        </p:nvSpPr>
        <p:spPr>
          <a:xfrm>
            <a:off x="793790" y="4315063"/>
            <a:ext cx="13042821" cy="254079"/>
          </a:xfrm>
          <a:prstGeom prst="rect">
            <a:avLst/>
          </a:prstGeom>
          <a:noFill/>
          <a:ln/>
        </p:spPr>
        <p:txBody>
          <a:bodyPr wrap="none" lIns="0" tIns="0" rIns="0" bIns="0" rtlCol="0" anchor="t"/>
          <a:lstStyle/>
          <a:p>
            <a:pPr marL="1028700" lvl="3" algn="l">
              <a:lnSpc>
                <a:spcPts val="2000"/>
              </a:lnSpc>
              <a:buSzPct val="100000"/>
            </a:pPr>
            <a:endParaRPr lang="en-US" sz="1250" dirty="0"/>
          </a:p>
        </p:txBody>
      </p:sp>
      <p:sp>
        <p:nvSpPr>
          <p:cNvPr id="17" name="Rectangle 2"/>
          <p:cNvSpPr>
            <a:spLocks noChangeArrowheads="1"/>
          </p:cNvSpPr>
          <p:nvPr/>
        </p:nvSpPr>
        <p:spPr bwMode="auto">
          <a:xfrm>
            <a:off x="1373470" y="2623126"/>
            <a:ext cx="5548314"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indent="-285750" eaLnBrk="0" fontAlgn="base" hangingPunct="0">
              <a:lnSpc>
                <a:spcPct val="150000"/>
              </a:lnSpc>
              <a:spcBef>
                <a:spcPct val="0"/>
              </a:spcBef>
              <a:spcAft>
                <a:spcPct val="0"/>
              </a:spcAft>
              <a:buFont typeface="Wingdings" panose="05000000000000000000" pitchFamily="2" charset="2"/>
              <a:buChar char="v"/>
            </a:pPr>
            <a:r>
              <a:rPr kumimoji="0" lang="en-US" b="1"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Sales</a:t>
            </a:r>
            <a:r>
              <a:rPr kumimoji="0" lang="en-US" b="1" i="0" u="none" strike="noStrike" cap="none" normalizeH="0" baseline="0" dirty="0" smtClean="0">
                <a:ln>
                  <a:noFill/>
                </a:ln>
                <a:solidFill>
                  <a:schemeClr val="tx1"/>
                </a:solidFill>
                <a:effectLst/>
                <a:latin typeface="Arial" panose="020B0604020202020204" pitchFamily="34" charset="0"/>
              </a:rPr>
              <a:t> </a:t>
            </a:r>
            <a:r>
              <a:rPr kumimoji="0" lang="en-US" b="1"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Performance</a:t>
            </a:r>
            <a:r>
              <a:rPr kumimoji="0" lang="en-US" b="1" i="0" u="none" strike="noStrike" cap="none" normalizeH="0" baseline="0" dirty="0" smtClean="0">
                <a:ln>
                  <a:noFill/>
                </a:ln>
                <a:solidFill>
                  <a:schemeClr val="tx1"/>
                </a:solidFill>
                <a:effectLst/>
                <a:latin typeface="Arial" panose="020B0604020202020204" pitchFamily="34" charset="0"/>
              </a:rPr>
              <a:t> Analysis</a:t>
            </a:r>
            <a:endParaRPr kumimoji="0" lang="en-US" b="0" i="0" u="none" strike="noStrike" cap="none" normalizeH="0" baseline="0" dirty="0" smtClean="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b="0" i="0" u="none" strike="noStrike" cap="none" normalizeH="0" baseline="0" dirty="0" smtClean="0">
                <a:ln>
                  <a:noFill/>
                </a:ln>
                <a:solidFill>
                  <a:schemeClr val="tx1"/>
                </a:solidFill>
                <a:effectLst/>
                <a:latin typeface="Arial" panose="020B0604020202020204" pitchFamily="34" charset="0"/>
              </a:rPr>
              <a:t>Product-wise and category-wise sales tracking</a:t>
            </a:r>
          </a:p>
          <a:p>
            <a:pPr lvl="1" eaLnBrk="0" fontAlgn="base" hangingPunct="0">
              <a:spcBef>
                <a:spcPct val="0"/>
              </a:spcBef>
              <a:spcAft>
                <a:spcPct val="0"/>
              </a:spcAft>
              <a:buFontTx/>
              <a:buChar char="•"/>
            </a:pPr>
            <a:r>
              <a:rPr kumimoji="0" lang="en-US" b="0" i="0" u="none" strike="noStrike" cap="none" normalizeH="0" baseline="0" dirty="0" smtClean="0">
                <a:ln>
                  <a:noFill/>
                </a:ln>
                <a:solidFill>
                  <a:schemeClr val="tx1"/>
                </a:solidFill>
                <a:effectLst/>
                <a:latin typeface="Arial" panose="020B0604020202020204" pitchFamily="34" charset="0"/>
              </a:rPr>
              <a:t>Quantity and revenue analysis</a:t>
            </a:r>
          </a:p>
          <a:p>
            <a:pPr lvl="1" eaLnBrk="0" fontAlgn="base" hangingPunct="0">
              <a:spcBef>
                <a:spcPct val="0"/>
              </a:spcBef>
              <a:spcAft>
                <a:spcPct val="0"/>
              </a:spcAft>
            </a:pPr>
            <a:endParaRPr kumimoji="0" lang="en-US"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sz="1800" b="1" i="0" u="none" strike="noStrike" cap="none" normalizeH="0" baseline="0" dirty="0" smtClean="0">
                <a:ln>
                  <a:noFill/>
                </a:ln>
                <a:solidFill>
                  <a:schemeClr val="tx1"/>
                </a:solidFill>
                <a:effectLst/>
                <a:latin typeface="Arial" panose="020B0604020202020204" pitchFamily="34" charset="0"/>
              </a:rPr>
              <a:t>Profitability Analysis</a:t>
            </a:r>
            <a:endParaRPr kumimoji="0" lang="en-US" sz="1800" b="0" i="0" u="none" strike="noStrike" cap="none" normalizeH="0" baseline="0" dirty="0" smtClean="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b="0" i="0" u="none" strike="noStrike" cap="none" normalizeH="0" baseline="0" dirty="0" smtClean="0">
                <a:ln>
                  <a:noFill/>
                </a:ln>
                <a:solidFill>
                  <a:schemeClr val="tx1"/>
                </a:solidFill>
                <a:effectLst/>
                <a:latin typeface="Arial" panose="020B0604020202020204" pitchFamily="34" charset="0"/>
              </a:rPr>
              <a:t>Comparison of buying price and selling price</a:t>
            </a:r>
          </a:p>
          <a:p>
            <a:pPr lvl="1" eaLnBrk="0" fontAlgn="base" hangingPunct="0">
              <a:spcBef>
                <a:spcPct val="0"/>
              </a:spcBef>
              <a:spcAft>
                <a:spcPct val="0"/>
              </a:spcAft>
              <a:buFontTx/>
              <a:buChar char="•"/>
            </a:pPr>
            <a:r>
              <a:rPr kumimoji="0" lang="en-US" b="0" i="0" u="none" strike="noStrike" cap="none" normalizeH="0" baseline="0" dirty="0" smtClean="0">
                <a:ln>
                  <a:noFill/>
                </a:ln>
                <a:solidFill>
                  <a:schemeClr val="tx1"/>
                </a:solidFill>
                <a:effectLst/>
                <a:latin typeface="Arial" panose="020B0604020202020204" pitchFamily="34" charset="0"/>
              </a:rPr>
              <a:t>Profit and profit margin calculation</a:t>
            </a:r>
          </a:p>
          <a:p>
            <a:pPr lvl="1" eaLnBrk="0" fontAlgn="base" hangingPunct="0">
              <a:spcBef>
                <a:spcPct val="0"/>
              </a:spcBef>
              <a:spcAft>
                <a:spcPct val="0"/>
              </a:spcAft>
            </a:pPr>
            <a:endParaRPr kumimoji="0" lang="en-US"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sz="1800" b="1" i="0" u="none" strike="noStrike" cap="none" normalizeH="0" baseline="0" dirty="0" smtClean="0">
                <a:ln>
                  <a:noFill/>
                </a:ln>
                <a:solidFill>
                  <a:schemeClr val="tx1"/>
                </a:solidFill>
                <a:effectLst/>
                <a:latin typeface="Arial" panose="020B0604020202020204" pitchFamily="34" charset="0"/>
              </a:rPr>
              <a:t>Time-Based Analysis</a:t>
            </a:r>
            <a:endParaRPr kumimoji="0" lang="en-US" sz="1800" b="0" i="0" u="none" strike="noStrike" cap="none" normalizeH="0" baseline="0" dirty="0" smtClean="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b="0" i="0" u="none" strike="noStrike" cap="none" normalizeH="0" baseline="0" dirty="0" smtClean="0">
                <a:ln>
                  <a:noFill/>
                </a:ln>
                <a:solidFill>
                  <a:schemeClr val="tx1"/>
                </a:solidFill>
                <a:effectLst/>
                <a:latin typeface="Arial" panose="020B0604020202020204" pitchFamily="34" charset="0"/>
              </a:rPr>
              <a:t>Analysis by day, month, and year</a:t>
            </a:r>
          </a:p>
          <a:p>
            <a:pPr lvl="1" eaLnBrk="0" fontAlgn="base" hangingPunct="0">
              <a:spcBef>
                <a:spcPct val="0"/>
              </a:spcBef>
              <a:spcAft>
                <a:spcPct val="0"/>
              </a:spcAft>
              <a:buFontTx/>
              <a:buChar char="•"/>
            </a:pPr>
            <a:r>
              <a:rPr kumimoji="0" lang="en-US" b="0" i="0" u="none" strike="noStrike" cap="none" normalizeH="0" baseline="0" dirty="0" smtClean="0">
                <a:ln>
                  <a:noFill/>
                </a:ln>
                <a:solidFill>
                  <a:schemeClr val="tx1"/>
                </a:solidFill>
                <a:effectLst/>
                <a:latin typeface="Arial" panose="020B0604020202020204" pitchFamily="34" charset="0"/>
              </a:rPr>
              <a:t>Identification of sales trends over time</a:t>
            </a:r>
          </a:p>
          <a:p>
            <a:pPr marL="0" marR="0" lvl="0" indent="0" algn="l" defTabSz="914400" rtl="0" eaLnBrk="0" fontAlgn="base" latinLnBrk="0" hangingPunct="0">
              <a:lnSpc>
                <a:spcPct val="100000"/>
              </a:lnSpc>
              <a:spcBef>
                <a:spcPct val="0"/>
              </a:spcBef>
              <a:spcAft>
                <a:spcPct val="0"/>
              </a:spcAft>
              <a:buClrTx/>
              <a:buSzTx/>
              <a:tabLst/>
            </a:pPr>
            <a:endParaRPr kumimoji="0" lang="en-US"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sz="1800" b="1" i="0" u="none" strike="noStrike" cap="none" normalizeH="0" baseline="0" dirty="0" smtClean="0">
                <a:ln>
                  <a:noFill/>
                </a:ln>
                <a:solidFill>
                  <a:schemeClr val="tx1"/>
                </a:solidFill>
                <a:effectLst/>
                <a:latin typeface="Arial" panose="020B0604020202020204" pitchFamily="34" charset="0"/>
              </a:rPr>
              <a:t>Discount Impact Analysis</a:t>
            </a:r>
            <a:endParaRPr kumimoji="0" lang="en-US" sz="1800" b="0" i="0" u="none" strike="noStrike" cap="none" normalizeH="0" baseline="0" dirty="0" smtClean="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b="0" i="0" u="none" strike="noStrike" cap="none" normalizeH="0" baseline="0" dirty="0" smtClean="0">
                <a:ln>
                  <a:noFill/>
                </a:ln>
                <a:solidFill>
                  <a:schemeClr val="tx1"/>
                </a:solidFill>
                <a:effectLst/>
                <a:latin typeface="Arial" panose="020B0604020202020204" pitchFamily="34" charset="0"/>
              </a:rPr>
              <a:t>Evaluation of discounts on sales performance</a:t>
            </a:r>
          </a:p>
          <a:p>
            <a:pPr lvl="1" eaLnBrk="0" fontAlgn="base" hangingPunct="0">
              <a:spcBef>
                <a:spcPct val="0"/>
              </a:spcBef>
              <a:spcAft>
                <a:spcPct val="0"/>
              </a:spcAft>
              <a:buFontTx/>
              <a:buChar char="•"/>
            </a:pPr>
            <a:r>
              <a:rPr kumimoji="0" lang="en-US" b="0" i="0" u="none" strike="noStrike" cap="none" normalizeH="0" baseline="0" dirty="0" smtClean="0">
                <a:ln>
                  <a:noFill/>
                </a:ln>
                <a:solidFill>
                  <a:schemeClr val="tx1"/>
                </a:solidFill>
                <a:effectLst/>
                <a:latin typeface="Arial" panose="020B0604020202020204" pitchFamily="34" charset="0"/>
              </a:rPr>
              <a:t>Understanding customer response to discounts</a:t>
            </a: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Text 2"/>
          <p:cNvSpPr/>
          <p:nvPr/>
        </p:nvSpPr>
        <p:spPr>
          <a:xfrm>
            <a:off x="714494" y="1904881"/>
            <a:ext cx="13201412" cy="326708"/>
          </a:xfrm>
          <a:prstGeom prst="rect">
            <a:avLst/>
          </a:prstGeom>
          <a:noFill/>
          <a:ln/>
        </p:spPr>
        <p:txBody>
          <a:bodyPr wrap="none" lIns="0" tIns="0" rIns="0" bIns="0" rtlCol="0" anchor="t"/>
          <a:lstStyle/>
          <a:p>
            <a:pPr marL="0" indent="0" algn="l">
              <a:lnSpc>
                <a:spcPts val="2550"/>
              </a:lnSpc>
              <a:buNone/>
            </a:pPr>
            <a:endParaRPr lang="en-US" sz="1600" dirty="0"/>
          </a:p>
        </p:txBody>
      </p:sp>
      <p:sp>
        <p:nvSpPr>
          <p:cNvPr id="6" name="Text 4"/>
          <p:cNvSpPr/>
          <p:nvPr/>
        </p:nvSpPr>
        <p:spPr>
          <a:xfrm>
            <a:off x="714494" y="3609380"/>
            <a:ext cx="13201412" cy="326708"/>
          </a:xfrm>
          <a:prstGeom prst="rect">
            <a:avLst/>
          </a:prstGeom>
          <a:noFill/>
          <a:ln/>
        </p:spPr>
        <p:txBody>
          <a:bodyPr wrap="none" lIns="0" tIns="0" rIns="0" bIns="0" rtlCol="0" anchor="t"/>
          <a:lstStyle/>
          <a:p>
            <a:pPr marL="0" indent="0" algn="l">
              <a:lnSpc>
                <a:spcPts val="2550"/>
              </a:lnSpc>
              <a:buNone/>
            </a:pPr>
            <a:endParaRPr lang="en-US" sz="1600" dirty="0"/>
          </a:p>
        </p:txBody>
      </p:sp>
      <p:sp>
        <p:nvSpPr>
          <p:cNvPr id="8" name="Text 6"/>
          <p:cNvSpPr/>
          <p:nvPr/>
        </p:nvSpPr>
        <p:spPr>
          <a:xfrm>
            <a:off x="714494" y="5313878"/>
            <a:ext cx="13201412" cy="326708"/>
          </a:xfrm>
          <a:prstGeom prst="rect">
            <a:avLst/>
          </a:prstGeom>
          <a:noFill/>
          <a:ln/>
        </p:spPr>
        <p:txBody>
          <a:bodyPr wrap="none" lIns="0" tIns="0" rIns="0" bIns="0" rtlCol="0" anchor="t"/>
          <a:lstStyle/>
          <a:p>
            <a:pPr marL="0" indent="0" algn="l">
              <a:lnSpc>
                <a:spcPts val="2550"/>
              </a:lnSpc>
              <a:buNone/>
            </a:pPr>
            <a:endParaRPr lang="en-US" sz="1600" dirty="0"/>
          </a:p>
        </p:txBody>
      </p:sp>
      <p:sp>
        <p:nvSpPr>
          <p:cNvPr id="11" name="Rectangle 10"/>
          <p:cNvSpPr/>
          <p:nvPr/>
        </p:nvSpPr>
        <p:spPr>
          <a:xfrm>
            <a:off x="3158453" y="3517472"/>
            <a:ext cx="8313494" cy="510524"/>
          </a:xfrm>
          <a:prstGeom prst="rect">
            <a:avLst/>
          </a:prstGeom>
        </p:spPr>
        <p:txBody>
          <a:bodyPr wrap="none">
            <a:spAutoFit/>
          </a:bodyPr>
          <a:lstStyle/>
          <a:p>
            <a:pPr>
              <a:lnSpc>
                <a:spcPts val="3100"/>
              </a:lnSpc>
            </a:pPr>
            <a:r>
              <a:rPr lang="en-GB" sz="4000" b="1" dirty="0">
                <a:solidFill>
                  <a:srgbClr val="00B0F0"/>
                </a:solidFill>
                <a:latin typeface="Ebrima" panose="02000000000000000000" pitchFamily="2" charset="0"/>
                <a:ea typeface="Ebrima" panose="02000000000000000000" pitchFamily="2" charset="0"/>
                <a:cs typeface="Ebrima" panose="02000000000000000000" pitchFamily="2" charset="0"/>
              </a:rPr>
              <a:t>Product Sales Analysis Dashboard</a:t>
            </a:r>
            <a:endParaRPr lang="en-US" sz="4000" b="1" dirty="0">
              <a:solidFill>
                <a:srgbClr val="00B0F0"/>
              </a:solidFill>
              <a:latin typeface="Ebrima" panose="02000000000000000000" pitchFamily="2" charset="0"/>
              <a:ea typeface="Ebrima" panose="02000000000000000000" pitchFamily="2" charset="0"/>
              <a:cs typeface="Ebrima" panose="02000000000000000000" pitchFamily="2"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8898" y="859675"/>
            <a:ext cx="2972289" cy="707886"/>
          </a:xfrm>
          <a:prstGeom prst="rect">
            <a:avLst/>
          </a:prstGeom>
        </p:spPr>
        <p:txBody>
          <a:bodyPr wrap="none">
            <a:spAutoFit/>
          </a:bodyPr>
          <a:lstStyle/>
          <a:p>
            <a:r>
              <a:rPr lang="en-GB" sz="4000" b="1" dirty="0" smtClean="0">
                <a:solidFill>
                  <a:srgbClr val="00B0F0"/>
                </a:solidFill>
                <a:latin typeface="Ebrima" panose="02000000000000000000" pitchFamily="2" charset="0"/>
                <a:ea typeface="Ebrima" panose="02000000000000000000" pitchFamily="2" charset="0"/>
                <a:cs typeface="Ebrima" panose="02000000000000000000" pitchFamily="2" charset="0"/>
              </a:rPr>
              <a:t>Conclusion </a:t>
            </a:r>
          </a:p>
        </p:txBody>
      </p:sp>
      <p:sp>
        <p:nvSpPr>
          <p:cNvPr id="3" name="Rectangle 2"/>
          <p:cNvSpPr/>
          <p:nvPr/>
        </p:nvSpPr>
        <p:spPr>
          <a:xfrm>
            <a:off x="1655545" y="1975117"/>
            <a:ext cx="10607040" cy="3416320"/>
          </a:xfrm>
          <a:prstGeom prst="rect">
            <a:avLst/>
          </a:prstGeom>
        </p:spPr>
        <p:txBody>
          <a:bodyPr wrap="square">
            <a:spAutoFit/>
          </a:bodyPr>
          <a:lstStyle/>
          <a:p>
            <a:r>
              <a:rPr lang="en-US" sz="2400" b="1" dirty="0"/>
              <a:t>The Product Sales Data analysis provides valuable insights into sales performance, profitability, and customer behavior. By analyzing product-wise, category-wise, and time-based sales data, we can identify top-performing products, high-revenue categories, and sales trends over time. The analysis of discounts and sales types helps understand customer preferences and the effectiveness of sales strategies. Comparing actual sales against targets highlights areas of achievement and improvement. Overall, this project demonstrates how data-driven insights can support better business decisions, optimize sales strategies, and enhance profitability.</a:t>
            </a:r>
            <a:endParaRPr lang="en-GB" sz="2400" b="1" dirty="0"/>
          </a:p>
        </p:txBody>
      </p:sp>
    </p:spTree>
    <p:extLst>
      <p:ext uri="{BB962C8B-B14F-4D97-AF65-F5344CB8AC3E}">
        <p14:creationId xmlns:p14="http://schemas.microsoft.com/office/powerpoint/2010/main" val="383399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4733" y="3205779"/>
            <a:ext cx="6099586" cy="1015663"/>
          </a:xfrm>
          <a:prstGeom prst="rect">
            <a:avLst/>
          </a:prstGeom>
          <a:noFill/>
        </p:spPr>
        <p:txBody>
          <a:bodyPr wrap="square" rtlCol="0">
            <a:spAutoFit/>
          </a:bodyPr>
          <a:lstStyle/>
          <a:p>
            <a:r>
              <a:rPr lang="en-US" sz="6000" b="1" dirty="0" smtClean="0">
                <a:solidFill>
                  <a:srgbClr val="00B0F0"/>
                </a:solidFill>
              </a:rPr>
              <a:t>Thank You !</a:t>
            </a:r>
            <a:endParaRPr lang="en-GB" sz="6000" b="1" dirty="0">
              <a:solidFill>
                <a:srgbClr val="00B0F0"/>
              </a:solidFill>
            </a:endParaRPr>
          </a:p>
        </p:txBody>
      </p:sp>
    </p:spTree>
    <p:extLst>
      <p:ext uri="{BB962C8B-B14F-4D97-AF65-F5344CB8AC3E}">
        <p14:creationId xmlns:p14="http://schemas.microsoft.com/office/powerpoint/2010/main" val="3487094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TotalTime>
  <Words>389</Words>
  <Application>Microsoft Office PowerPoint</Application>
  <PresentationFormat>Custom</PresentationFormat>
  <Paragraphs>39</Paragraphs>
  <Slides>6</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YAFdtQi73Xs_0</vt:lpstr>
      <vt:lpstr>Arial</vt:lpstr>
      <vt:lpstr>Ebrima</vt:lpstr>
      <vt:lpstr>Fraunces Extra Bold</vt:lpstr>
      <vt:lpstr>Nobile</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Admin</dc:creator>
  <cp:lastModifiedBy>Admin</cp:lastModifiedBy>
  <cp:revision>41</cp:revision>
  <dcterms:created xsi:type="dcterms:W3CDTF">2025-10-24T13:37:24Z</dcterms:created>
  <dcterms:modified xsi:type="dcterms:W3CDTF">2025-12-20T07:35:48Z</dcterms:modified>
</cp:coreProperties>
</file>